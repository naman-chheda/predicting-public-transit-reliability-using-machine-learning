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Predicting Public Transit Reliability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245 In-class Project Presentation</a:t>
            </a:r>
          </a:p>
          <a:p>
            <a:r>
              <a:t>Team: [Add team names]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Goal: Predict whether a transit stop event will be delayed</a:t>
            </a:r>
          </a:p>
          <a:p>
            <a:pPr>
              <a:defRPr sz="2200"/>
            </a:pPr>
            <a:r>
              <a:t>Business value: Better rider communication and dispatch planning</a:t>
            </a:r>
          </a:p>
          <a:p>
            <a:pPr>
              <a:defRPr sz="2200"/>
            </a:pPr>
            <a:r>
              <a:t>Dataset size: 1086 rows and 13 columns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Pipeline and Feature Engineering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Merged schedule + realtime + weather data</a:t>
            </a:r>
          </a:p>
          <a:p>
            <a:pPr>
              <a:defRPr sz="2200"/>
            </a:pPr>
            <a:r>
              <a:t>Engineered time, trip progression, weather, and speed features</a:t>
            </a:r>
          </a:p>
          <a:p>
            <a:pPr>
              <a:defRPr sz="2200"/>
            </a:pPr>
            <a:r>
              <a:t>Balanced classes with SMOTE in feature engineering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Analysis: Correlation Heatmap</a:t>
            </a:r>
          </a:p>
        </p:txBody>
      </p:sp>
      <p:pic>
        <p:nvPicPr>
          <p:cNvPr id="3" name="Picture 2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59984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Heatmap used to identify feature relationships and potential multicollinearity.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Distribution</a:t>
            </a:r>
          </a:p>
        </p:txBody>
      </p:sp>
      <p:pic>
        <p:nvPicPr>
          <p:cNvPr id="3" name="Picture 2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862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Balanced delay classes used for robust model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Results (Multiple Metrics)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Best model: random_forest</a:t>
            </a:r>
          </a:p>
          <a:p>
            <a:pPr>
              <a:defRPr sz="2200"/>
            </a:pPr>
            <a:r>
              <a:t>F1: 0.930, ROC-AUC: 0.977, PR-AUC: 0.980</a:t>
            </a:r>
          </a:p>
          <a:p>
            <a:pPr>
              <a:defRPr sz="2200"/>
            </a:pPr>
            <a:r>
              <a:t>Compared Logistic Regression, Random Forest, and Gradient Boosting</a:t>
            </a:r>
          </a:p>
          <a:p>
            <a:pPr>
              <a:defRPr sz="2200"/>
            </a:pPr>
            <a:r>
              <a:t>Detailed metrics are in project_outputs/tables/model_metrics.csv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Quality: ROC Curves</a:t>
            </a:r>
          </a:p>
        </p:txBody>
      </p:sp>
      <p:pic>
        <p:nvPicPr>
          <p:cNvPr id="3" name="Picture 2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5355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ROC curves for all candidate models.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Quality: Precision-Recall Curves</a:t>
            </a:r>
          </a:p>
        </p:txBody>
      </p:sp>
      <p:pic>
        <p:nvPicPr>
          <p:cNvPr id="3" name="Picture 2" descr="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53557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 curves emphasize positive-class performance.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Confusion Matrix</a:t>
            </a:r>
          </a:p>
        </p:txBody>
      </p:sp>
      <p:pic>
        <p:nvPicPr>
          <p:cNvPr id="3" name="Picture 2" descr="confusion_matrix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599846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Classification behavior on held-out test data.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Importance (Best Tree-Based Model)</a:t>
            </a:r>
          </a:p>
        </p:txBody>
      </p:sp>
      <p:pic>
        <p:nvPicPr>
          <p:cNvPr id="3" name="Picture 2" descr="feature_importance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7498079" cy="468629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03504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Top contributors to transit delay prediction.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Walkthrough and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Step 1: Run 08_modeling_and_reporting.py to train/evaluate models</a:t>
            </a:r>
          </a:p>
          <a:p>
            <a:pPr>
              <a:defRPr sz="2200"/>
            </a:pPr>
            <a:r>
              <a:t>Step 2: Show saved model file and quick inference script execution</a:t>
            </a:r>
          </a:p>
          <a:p>
            <a:pPr>
              <a:defRPr sz="2200"/>
            </a:pPr>
            <a:r>
              <a:t>Step 3: Walk through key functions: preprocessing, metrics, and model selection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Lessons Learned and Technical Difficulties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Realtime transit data quality required careful filtering and joins</a:t>
            </a:r>
          </a:p>
          <a:p>
            <a:pPr>
              <a:defRPr sz="2200"/>
            </a:pPr>
            <a:r>
              <a:t>Class imbalance initially hurt recall before resampling</a:t>
            </a:r>
          </a:p>
          <a:p>
            <a:pPr>
              <a:defRPr sz="2200"/>
            </a:pPr>
            <a:r>
              <a:t>Best practice: track multiple metrics, not only accuracy</a:t>
            </a:r>
          </a:p>
          <a:p>
            <a:pPr>
              <a:defRPr sz="2200"/>
            </a:pPr>
            <a:r>
              <a:t>Future work: route-specific models and temporal cross-validation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Teamwork, Agile, and Pair Programming Evidence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Add sprint board link (Trello/Jira) and sprint artifacts</a:t>
            </a:r>
          </a:p>
          <a:p>
            <a:pPr>
              <a:defRPr sz="2200"/>
            </a:pPr>
            <a:r>
              <a:t>Add pair-programming screenshots or VS Code LiveShare evidence</a:t>
            </a:r>
          </a:p>
          <a:p>
            <a:pPr>
              <a:defRPr sz="2200"/>
            </a:pPr>
            <a:r>
              <a:t>Add commit history snapshots from GitHub and role ownership notes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CRediT Contributor Roles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[Name 1] Conceptualization, Data Curation, and Investigation</a:t>
            </a:r>
          </a:p>
          <a:p>
            <a:pPr>
              <a:defRPr sz="2200"/>
            </a:pPr>
            <a:r>
              <a:t>[Name 2] Methodology, Software, and Validation</a:t>
            </a:r>
          </a:p>
          <a:p>
            <a:pPr>
              <a:defRPr sz="2200"/>
            </a:pPr>
            <a:r>
              <a:t>[Name 3] Visualization, Writing, and Presentation</a:t>
            </a:r>
          </a:p>
          <a:p>
            <a:pPr>
              <a:defRPr sz="2200"/>
            </a:pPr>
            <a:r>
              <a:t>Replace placeholders with exact team member contributions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Rubric Criteria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Code Walkthrough (5): 08_modeling_and_reporting.py and end-to-end pipeline scripts</a:t>
            </a:r>
          </a:p>
          <a:p>
            <a:pPr>
              <a:defRPr sz="2200"/>
            </a:pPr>
            <a:r>
              <a:t>Presentation Skills/Time Mgmt (5): Use speaker notes and timed dry run</a:t>
            </a:r>
          </a:p>
          <a:p>
            <a:pPr>
              <a:defRPr sz="2200"/>
            </a:pPr>
            <a:r>
              <a:t>Discussion/Q&amp;A (5): Prepare trade-off answers for model selection and metrics</a:t>
            </a:r>
          </a:p>
          <a:p>
            <a:pPr>
              <a:defRPr sz="2200"/>
            </a:pPr>
            <a:r>
              <a:t>Demo (5): Run model script + show saved model inference</a:t>
            </a:r>
          </a:p>
          <a:p>
            <a:pPr>
              <a:defRPr sz="2200"/>
            </a:pPr>
            <a:r>
              <a:t>Visualization (2): Heatmap, target distribution, ROC/PR, confusion matrix</a:t>
            </a:r>
          </a:p>
          <a:p>
            <a:pPr>
              <a:defRPr sz="2200"/>
            </a:pPr>
            <a:r>
              <a:t>Version Control (3): Add public GitHub repo URL in this slide before submission</a:t>
            </a:r>
          </a:p>
          <a:p>
            <a:pPr>
              <a:defRPr sz="2200"/>
            </a:pPr>
            <a:r>
              <a:t>Lessons Learned (5): Included in dedicated lessons-learned slide</a:t>
            </a:r>
          </a:p>
          <a:p>
            <a:pPr>
              <a:defRPr sz="2200"/>
            </a:pPr>
            <a:r>
              <a:t>Teamwork + Pair Programming (2): Add screenshots/logs in appendix</a:t>
            </a:r>
          </a:p>
          <a:p>
            <a:pPr>
              <a:defRPr sz="2200"/>
            </a:pPr>
            <a:r>
              <a:t>Agile/Scrum (3): Add sprint board URL, meeting notes, backlog evidence</a:t>
            </a:r>
          </a:p>
          <a:p>
            <a:pPr>
              <a:defRPr sz="2200"/>
            </a:pPr>
            <a:r>
              <a:t>Slides (5): This .pptx deck exported and submitted</a:t>
            </a:r>
          </a:p>
          <a:p>
            <a:pPr>
              <a:defRPr sz="2200"/>
            </a:pPr>
            <a:r>
              <a:t>Saved model for quick demo (3): project_outputs/models/best_transit_delay_model.pkl</a:t>
            </a:r>
          </a:p>
          <a:p>
            <a:pPr>
              <a:defRPr sz="2200"/>
            </a:pPr>
            <a:r>
              <a:t>Creative presentation techniques (2): Add transitions/animations before final export</a:t>
            </a:r>
          </a:p>
          <a:p>
            <a:pPr>
              <a:defRPr sz="2200"/>
            </a:pPr>
            <a:r>
              <a:t>CRediT statement: Included in dedicated contributor roles slide</a:t>
            </a:r>
          </a:p>
          <a:p>
            <a:pPr>
              <a:defRPr sz="2200"/>
            </a:pPr>
            <a:r>
              <a:t>Generative AI usage transparency: List tools and exactly where they were used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External Evidence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GitHub repo URL: [insert public URL]</a:t>
            </a:r>
          </a:p>
          <a:p>
            <a:pPr>
              <a:defRPr sz="2200"/>
            </a:pPr>
            <a:r>
              <a:t>Sprint board URL: [insert Trello/Jira URL]</a:t>
            </a:r>
          </a:p>
          <a:p>
            <a:pPr>
              <a:defRPr sz="2200"/>
            </a:pPr>
            <a:r>
              <a:t>Elevator pitch video URL: [insert link]</a:t>
            </a:r>
          </a:p>
          <a:p>
            <a:pPr>
              <a:defRPr sz="2200"/>
            </a:pPr>
            <a:r>
              <a:t>Cloud model URL (if model &gt;2MB): [insert link + file size]</a:t>
            </a:r>
          </a:p>
          <a:p>
            <a:pPr>
              <a:defRPr sz="2200"/>
            </a:pPr>
            <a:r>
              <a:t>Generative AI tools used and where: [insert transparent disclosure]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