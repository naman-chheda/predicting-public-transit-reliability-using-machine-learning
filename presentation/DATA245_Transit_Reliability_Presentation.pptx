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is not a deep learning or full-stack-only project. It is an end-to-end traditional ML pipeline with a simple frontend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business/social need and then connect it directly to course ML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directly addresses the assignment reminder not to use deep learning for this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transparent: the merged dataset is large, but labels from realtime matching are the bottleneck.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precision is low: there are very few positive delayed examples. Emphasize recall and ROC-AUC.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 concrete example: scheduled time + observed time = delay minutes; delay minutes &gt; 5 = delayed.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supports the “use many evaluation metrics”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oversell the score. Say it is a prototype with promising ROC-AUC and high recall for the small labeled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difference between MAE and RMSE. Say large rare delays drive RMSE.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“identify the key drivers of unreliability.” Explain interpretation vs. causation.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supports visualization and clustering. Keep the limitation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Streamlit for the demo. Make sure to use python -m streamlit so the active .venv is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supports the code walkthrough rubric item. Walk through the folder structure in VS Code during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addresses the lessons learned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addresses CLO 8 and the required CRediT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submitting, update this appendix with accessible evidence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final check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777240"/>
            <a:ext cx="3291840" cy="0"/>
          </a:xfrm>
          <a:prstGeom prst="line">
            <a:avLst/>
          </a:prstGeom>
          <a:noFill/>
          <a:ln w="381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49640" y="5349240"/>
            <a:ext cx="2560320" cy="0"/>
          </a:xfrm>
          <a:prstGeom prst="line">
            <a:avLst/>
          </a:prstGeom>
          <a:noFill/>
          <a:ln w="38100">
            <a:solidFill>
              <a:srgbClr val="F97316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566928"/>
            <a:ext cx="2423160" cy="329184"/>
          </a:xfrm>
          <a:prstGeom prst="roundRect">
            <a:avLst>
              <a:gd name="adj" fmla="val 22222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626364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245 · MACHINE LEARNING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Predicting Public Transit Reliability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13232" y="22677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F8F7"/>
                </a:solidFill>
              </a:rPr>
              <a:t>Using Traditional Machine Learning for VTA Delay Risk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6217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2"/>
                </a:solidFill>
              </a:rPr>
              <a:t>Goal: classify on-time vs. delayed buses, estimate delay minutes, and identify the drivers of unreliability.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539496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3434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Team: Naman Vipul Chheda · Nikhil Kanaparthi · Naeem Mannan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7D2D7"/>
                </a:solidFill>
              </a:rPr>
              <a:t>Santa Clara Valley Transportation Authority (VTA) · GTFS + GTFS-Realtime + weather/temporal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4173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0768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A6A6"/>
                </a:solidFill>
              </a:rPr>
              <a:t>361k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458200" y="198424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merged stop records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321040" y="26060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97316"/>
                </a:solidFill>
              </a:rPr>
              <a:t>591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458200" y="31729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observed delay labels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321040" y="379476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ACC15"/>
                </a:solidFill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458200" y="43616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traditional ML model families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01400" y="6327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3CC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transit reliability matters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7772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Unpredictable delays reduce trust in public transportation and hurt dependent riders most.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DATA 245 · Traditional ML · Public Transit Reliability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PROBLEM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536192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</a:rPr>
              <a:t>Can we predict whether a VTA bus stop event is likely to be delayed — and explain why?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13232" y="259689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1460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7323A"/>
                </a:solidFill>
              </a:rPr>
              <a:t>Late buses cause missed transfers, late arrivals to work/school, and lower ridership confidence.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" y="314553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6324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7323A"/>
                </a:solidFill>
              </a:rPr>
              <a:t>Reliability is measurable as a classification task: delayed vs. on-time.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" y="364845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6616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7323A"/>
                </a:solidFill>
              </a:rPr>
              <a:t>Delay minutes can also be predicted as a regression task.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1051560"/>
            <a:ext cx="0" cy="5120640"/>
          </a:xfrm>
          <a:prstGeom prst="line">
            <a:avLst/>
          </a:prstGeom>
          <a:noFill/>
          <a:ln w="12700">
            <a:solidFill>
              <a:srgbClr val="CCD7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OUR ML FRAMING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03720" y="1664208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DDFBFA"/>
          </a:solidFill>
          <a:ln w="12700">
            <a:solidFill>
              <a:srgbClr val="DDF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3448" y="1792224"/>
            <a:ext cx="1883664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Classification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Delay risk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89720" y="1664208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99448" y="1792224"/>
            <a:ext cx="1883664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Regression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Delay minutes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278892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56448" y="2916936"/>
            <a:ext cx="1929384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Clustering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Bottleneck stops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55280" y="2542032"/>
            <a:ext cx="1051560" cy="228600"/>
          </a:xfrm>
          <a:prstGeom prst="line">
            <a:avLst/>
          </a:prstGeom>
          <a:noFill/>
          <a:ln w="19050">
            <a:solidFill>
              <a:srgbClr val="007C8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195560" y="2542032"/>
            <a:ext cx="-868680" cy="22860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903720" y="41605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Planner-friendly outputs: risk score, predicted delay, and feature importance.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scope: traditional ML, interpretable outputs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7772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The project intentionally avoids deep learning and focuses on models covered in DATA 245.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DATA 245 · Traditional ML · Public Transit Reliability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2344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97316"/>
                </a:solidFill>
              </a:rPr>
              <a:t>0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50392" y="18013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CNN/RNN/LSTM models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71800" y="12344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A6A6"/>
                </a:solidFill>
              </a:rPr>
              <a:t>3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108960" y="18013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classification algorithms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30368" y="12344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0096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7C89"/>
                </a:solidFill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367528" y="18013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regression algorithms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88936" y="12344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98664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ACC15"/>
                </a:solidFill>
              </a:rPr>
              <a:t>1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7626096" y="18013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clustering workflow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3232" y="2788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ALGORITHMS IMPLEMENTED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49808" y="323697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31546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Logistic Regression baseline for interpretable delay risk.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" y="369417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36118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Random Forest for nonlinear tabular patterns and feature importance.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" y="415137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40690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SVM with RBF kernel as an additional traditional classifier.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9808" y="460857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45262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Linear Regression and Random Forest Regressor for delay minutes.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9808" y="506577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" y="49834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K-Means clustering to group stops by delay severity.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WHY THIS FITS THE COURSE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46520" y="318211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End-to-end ML pipeline: cleaning → feature engineering → model training → metrics → model saving → demo.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46520" y="413308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7323A"/>
                </a:solidFill>
              </a:rPr>
              <a:t>Evaluation emphasizes F1, recall, ROC-AUC, MAE, RMSE, and honest discussion of imbalanced data.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engineering pipeline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7772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Static schedules, realtime observations, and engineered time/spatial features are merged into one modeling dataset.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DATA 245 · Traditional ML · Public Transit Reliability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2212848"/>
            <a:ext cx="914400" cy="0"/>
          </a:xfrm>
          <a:prstGeom prst="line">
            <a:avLst/>
          </a:prstGeom>
          <a:noFill/>
          <a:ln w="17780">
            <a:solidFill>
              <a:srgbClr val="5261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92040" y="2212848"/>
            <a:ext cx="914400" cy="0"/>
          </a:xfrm>
          <a:prstGeom prst="line">
            <a:avLst/>
          </a:prstGeom>
          <a:noFill/>
          <a:ln w="17780">
            <a:solidFill>
              <a:srgbClr val="5261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60920" y="2212848"/>
            <a:ext cx="914400" cy="0"/>
          </a:xfrm>
          <a:prstGeom prst="line">
            <a:avLst/>
          </a:prstGeom>
          <a:noFill/>
          <a:ln w="17780">
            <a:solidFill>
              <a:srgbClr val="5261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1627632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DDFBFA"/>
          </a:solidFill>
          <a:ln w="12700">
            <a:solidFill>
              <a:srgbClr val="DDF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755648"/>
            <a:ext cx="1472184" cy="9235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GTFS static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schedules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627632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1755648"/>
            <a:ext cx="1289304" cy="9235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GTFS-Realtime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vehicle logs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1627632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16168" y="1755648"/>
            <a:ext cx="1289304" cy="9235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Feature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engineering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1627632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5048" y="1755648"/>
            <a:ext cx="1289304" cy="9235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Modeling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dataset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3429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FINAL DATASET COVERAGE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22960" y="382219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959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A6A6"/>
                </a:solidFill>
              </a:rPr>
              <a:t>361,885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60120" y="43891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merged stop records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54680" y="382219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3959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97316"/>
                </a:solidFill>
              </a:rPr>
              <a:t>591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3291840" y="43891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observed delay labels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0" y="382219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3959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7C89"/>
                </a:solidFill>
              </a:rPr>
              <a:t>33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5623560" y="43891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routes observed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818120" y="382219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27848" y="3959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ACC15"/>
                </a:solidFill>
              </a:rPr>
              <a:t>402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7955280" y="43891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stops observed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2960" y="5166360"/>
            <a:ext cx="9418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Observation window: Apr 5–23, 2026. Current dataset is usable for a prototype but should be expanded for stronger final claims.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EDA: delay labels are highly imbalanced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7772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Only 48 observed stop events are delayed, so recall and F1 are more important than accuracy alone.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DATA 245 · Traditional ML · Public Transit Reliability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153619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673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A6A6"/>
                </a:solidFill>
              </a:rPr>
              <a:t>543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observed on-time rows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68680" y="27889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97316"/>
                </a:solidFill>
              </a:rPr>
              <a:t>48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05840" y="335584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observed delayed rows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05840" y="4160520"/>
            <a:ext cx="1828800" cy="0"/>
          </a:xfrm>
          <a:prstGeom prst="line">
            <a:avLst/>
          </a:prstGeom>
          <a:noFill/>
          <a:ln w="635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462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Delay rate: 8.1%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43400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TARGET DEFINITION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43400" y="173736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3"/>
                </a:solidFill>
              </a:rPr>
              <a:t>Delayed = observed arrival more than 5 minutes later than the scheduled time.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4370832" y="268833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60604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7323A"/>
                </a:solidFill>
              </a:rPr>
              <a:t>On-time examples dominate the sample, so a model can look accurate while missing delays.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70832" y="323697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15468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7323A"/>
                </a:solidFill>
              </a:rPr>
              <a:t>We used class-weighting / balanced evaluation to avoid predicting “on-time” for everything.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70832" y="378561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70332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7323A"/>
                </a:solidFill>
              </a:rPr>
              <a:t>The final deck reports both model performance and data limitations honestly.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6112" y="507492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Observed rows: 591 · Delayed rows: 48 · On-time rows: 543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engineering: turning transit logs into ML signals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7772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Features combine temporal patterns, trip context, stop context, and realtime vehicle conditions.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DATA 245 · Traditional ML · Public Transit Reliability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TEMPORAL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709928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627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hour_of_day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075688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993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is_weekend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441448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3591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is_rush_hour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ROUTE / TRIP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20440" y="1709928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1608" y="1627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route_short_name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20440" y="2075688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1608" y="19933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route_stop_count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20440" y="2441448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21608" y="23591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stop_sequence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REALTIME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355080" y="1709928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1627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vehicle speed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2075688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19933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occupancy label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2441448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56248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realtime stop match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0684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WEATHER NOTE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006840" y="16276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7323A"/>
                </a:solidFill>
              </a:rPr>
              <a:t>Weather was included in the original plan, but final claims should merge weather by realtime observation date, not GTFS service start date.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00200" y="3840480"/>
            <a:ext cx="7589520" cy="0"/>
          </a:xfrm>
          <a:prstGeom prst="line">
            <a:avLst/>
          </a:prstGeom>
          <a:noFill/>
          <a:ln w="17780">
            <a:solidFill>
              <a:srgbClr val="52616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77240" y="342900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DDFBFA"/>
          </a:solidFill>
          <a:ln w="12700">
            <a:solidFill>
              <a:srgbClr val="DDF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" y="3557016"/>
            <a:ext cx="1289304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raw timestamps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971800" y="342900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81528" y="3557016"/>
            <a:ext cx="1289304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delay minutes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66360" y="342900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76088" y="3557016"/>
            <a:ext cx="1289304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delay label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360920" y="342900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70648" y="3557016"/>
            <a:ext cx="1289304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ML matrix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234440" y="498348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Outcome: one row per observed stop event with engineered predictors and target labels.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design and evaluation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7772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Train/test split plus cross-validation; model selection favors useful delay detection, not just high accuracy.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DATA 245 · Traditional ML · Public Transit Reliability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CLASSIFICATION METRICS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A6A6"/>
                </a:solidFill>
              </a:rPr>
              <a:t>F1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68680" y="21671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balance precision + recall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71800" y="16002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1528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97316"/>
                </a:solidFill>
              </a:rPr>
              <a:t>Recall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108960" y="21671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catch delayed cases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12080" y="16002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21808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7C89"/>
                </a:solidFill>
              </a:rPr>
              <a:t>ROC-AUC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5349240" y="21671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rank delay risk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REGRESSION METRICS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36118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A6A6"/>
                </a:solidFill>
              </a:rPr>
              <a:t>MAE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68680" y="417880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average minute error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71800" y="36118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81528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97316"/>
                </a:solidFill>
              </a:rPr>
              <a:t>RMSE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3108960" y="417880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penalize large errors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12080" y="36118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1808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7C89"/>
                </a:solidFill>
              </a:rPr>
              <a:t>R²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5349240" y="417880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variance explained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26680" y="1234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DATA IMBALANCE HANDLING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26680" y="169164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Because delayed examples are rare, the model is evaluated on its ability to find delays. Accuracy alone is misleading.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754112" y="296265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28803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class-weighted models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754112" y="332841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32461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stratified train/test split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754112" y="369417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0" y="36118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cross-validation where feasible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54112" y="405993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0" y="39776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23A"/>
                </a:solidFill>
              </a:rPr>
              <a:t>saved .joblib models for quick demo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result: Logistic Regression selected for delay risk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7772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Best practical balance of interpretability, recall, F1, and ROC-AUC on the current sample.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DATA 245 · Traditional ML · Public Transit Reliability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08</a:t>
            </a:r>
            <a:endParaRPr lang="en-US" sz="900" dirty="0"/>
          </a:p>
        </p:txBody>
      </p:sp>
      <p:pic>
        <p:nvPicPr>
          <p:cNvPr id="9" name="Image 0" descr="/mnt/data/transit_reliability_solution/outputs/classifier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5858"/>
            <a:ext cx="5623560" cy="351472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29400" y="13716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39128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A6A6"/>
                </a:solidFill>
              </a:rPr>
              <a:t>0.271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766560" y="19385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test F1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961120" y="13716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70848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97316"/>
                </a:solidFill>
              </a:rPr>
              <a:t>0.667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9098280" y="19385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test recall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629400" y="26974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39128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7C89"/>
                </a:solidFill>
              </a:rPr>
              <a:t>0.725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6766560" y="326440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test ROC-AUC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61120" y="26974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70848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ACC15"/>
                </a:solidFill>
              </a:rPr>
              <a:t>47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9098280" y="326440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predicted delayed rows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629400" y="416052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7323A"/>
                </a:solidFill>
              </a:rPr>
              <a:t>Interpretation: Logistic Regression intentionally catches more true delays, accepting more false positives. This is reasonable when missed delays are costly for riders.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result: Random Forest predicts delay minutes best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7772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The regression model estimates how many minutes late a stop event may be.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DATA 245 · Traditional ML · Public Transit Reliability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09</a:t>
            </a:r>
            <a:endParaRPr lang="en-US" sz="900" dirty="0"/>
          </a:p>
        </p:txBody>
      </p:sp>
      <p:pic>
        <p:nvPicPr>
          <p:cNvPr id="9" name="Image 0" descr="/mnt/data/transit_reliability_solution/outputs/regression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54430"/>
            <a:ext cx="5669280" cy="35433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720840" y="14173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30568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A6A6"/>
                </a:solidFill>
              </a:rPr>
              <a:t>4.94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858000" y="198424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test MAE minutes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006840" y="14173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16568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97316"/>
                </a:solidFill>
              </a:rPr>
              <a:t>17.61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9144000" y="198424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test RMSE minutes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720840" y="27432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30568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7C89"/>
                </a:solidFill>
              </a:rPr>
              <a:t>0.080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6858000" y="33101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test R²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9006840" y="27432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16568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ACC15"/>
                </a:solidFill>
              </a:rPr>
              <a:t>148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9144000" y="33101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test rows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720840" y="422452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7323A"/>
                </a:solidFill>
              </a:rPr>
              <a:t>Interpretation: MAE is useful for demo-level planning, but RMSE shows that extreme delays remain hard to predict with limited labeled data.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drivers of unreliability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7772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The most useful signals combine route identity, time patterns, trip position, speed, and occupancy.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DATA 245 · Traditional ML · Public Transit Reliability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2070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TOP SIGNALS FROM MODEL OUTPUTS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77240" y="1627632"/>
            <a:ext cx="48920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Route identity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1832" y="20574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Specific routes show stronger risk patterns.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770632"/>
            <a:ext cx="4892040" cy="841248"/>
          </a:xfrm>
          <a:prstGeom prst="roundRect">
            <a:avLst>
              <a:gd name="adj" fmla="val 7609"/>
            </a:avLst>
          </a:prstGeom>
          <a:solidFill>
            <a:srgbClr val="F3F8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898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Weekend flag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1832" y="32004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Schedule/reliability behavior differs on weekends.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913632"/>
            <a:ext cx="48920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4041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Hour of day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1832" y="43434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Time windows affect likelihood of delay.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1627632"/>
            <a:ext cx="4892040" cy="841248"/>
          </a:xfrm>
          <a:prstGeom prst="roundRect">
            <a:avLst>
              <a:gd name="adj" fmla="val 7609"/>
            </a:avLst>
          </a:prstGeom>
          <a:solidFill>
            <a:srgbClr val="F3F8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Rush-hour flag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73952" y="20574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Congestion-sensitive feature.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2770632"/>
            <a:ext cx="48920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2898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Stop sequence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73952" y="32004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Delay accumulates along a route.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3913632"/>
            <a:ext cx="4892040" cy="841248"/>
          </a:xfrm>
          <a:prstGeom prst="roundRect">
            <a:avLst>
              <a:gd name="adj" fmla="val 7609"/>
            </a:avLst>
          </a:prstGeom>
          <a:solidFill>
            <a:srgbClr val="F3F8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4041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Speed + occupancy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73952" y="43434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Vehicle state adds realtime context.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" y="532180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Important: feature importance explains patterns in the current labeled sample; it is not a causal claim.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Clustering: geographic bottleneck stop candidates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7772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K-Means groups stops by delay severity to find locations that deserve planner attention.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DATA 245 · Traditional ML · Public Transit Reliability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11</a:t>
            </a:r>
            <a:endParaRPr lang="en-US" sz="900" dirty="0"/>
          </a:p>
        </p:txBody>
      </p:sp>
      <p:pic>
        <p:nvPicPr>
          <p:cNvPr id="9" name="Image 0" descr="/mnt/data/transit_reliability_solution/outputs/top_bottleneck_sto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64920"/>
            <a:ext cx="5943600" cy="3962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037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HIGHEST-RISK SAMPLE STOPS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949440" y="16276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23A"/>
                </a:solidFill>
              </a:rPr>
              <a:t>1. El Camino &amp; Castro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949440" y="20116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23A"/>
                </a:solidFill>
              </a:rPr>
              <a:t>2. Showers &amp; California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949440" y="23957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23A"/>
                </a:solidFill>
              </a:rPr>
              <a:t>3. El Camino &amp; San Antonio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949440" y="277977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23A"/>
                </a:solidFill>
              </a:rPr>
              <a:t>4. The Alameda &amp; Portola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949440" y="316382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23A"/>
                </a:solidFill>
              </a:rPr>
              <a:t>5. Bascom &amp; Fruitdale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949440" y="354787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23A"/>
                </a:solidFill>
              </a:rPr>
              <a:t>6. El Camino &amp; Showers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949440" y="39319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23A"/>
                </a:solidFill>
              </a:rPr>
              <a:t>7. Santa Clara &amp; 24th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931152" y="466344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Use these as a starting point for route-level review, not as definitive citywide bottlenecks until more realtime labels are collected.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demo: delay risk dashboard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7772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Streamlit wraps the saved models into a simple interface for quick project demonstration.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DATA 245 · Traditional ML · Public Transit Reliability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DEMO FLOW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49808" y="1709928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62763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Select route, time, weekday/weekend, rush hour, speed, and occupancy.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" y="223113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1488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Click predict to show delay-risk probability and predicted delay minutes.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" y="2752344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267004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Show feature importance and bottleneck-stop tables from saved outputs.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3657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RUN COMMAND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5166360" cy="658368"/>
          </a:xfrm>
          <a:prstGeom prst="roundRect">
            <a:avLst>
              <a:gd name="adj" fmla="val 833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1970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streamlit run app.py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1051560"/>
            <a:ext cx="48006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24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2984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VTA Delay Risk Dashboard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20840" y="173736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DFBFA"/>
          </a:solidFill>
          <a:ln w="12700">
            <a:solidFill>
              <a:srgbClr val="DDFBF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1796796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</a:rPr>
              <a:t>Route 40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046720" y="173736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FFF1E6"/>
          </a:solidFill>
          <a:ln w="12700">
            <a:solidFill>
              <a:srgbClr val="FFF1E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9872" y="1796796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</a:rPr>
              <a:t>Rush hour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464040" y="1737360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37192" y="1796796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</a:rPr>
              <a:t>Full occupancy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20840" y="242316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Delay risk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High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823960" y="242316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Delay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minutes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720840" y="3977640"/>
            <a:ext cx="3977640" cy="0"/>
          </a:xfrm>
          <a:prstGeom prst="line">
            <a:avLst/>
          </a:prstGeom>
          <a:noFill/>
          <a:ln w="25400">
            <a:solidFill>
              <a:srgbClr val="007C8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43159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Feature importance + bottleneck stops below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walkthrough: what each file does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7772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The submitted code is organized into reproducible scripts instead of one large notebook.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DATA 245 · Traditional ML · Public Transit Reliability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43000"/>
            <a:ext cx="49377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2893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C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1_prepare_modeling_data.py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160020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Creates modeling_dataset.csv and summary JSON.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313432"/>
            <a:ext cx="49377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4597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C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2_train_classifier.py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277063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Trains Logistic Regression, Random Forest, SVM; saves classifier.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483864"/>
            <a:ext cx="49377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6301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C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3_train_regressor.py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" y="394106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Trains regression models; saves delay-minutes regressor.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1143000"/>
            <a:ext cx="49377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12893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C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4_cluster_stops.py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19672" y="160020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Clusters stops and exports bottleneck-stop tables.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55080" y="2313432"/>
            <a:ext cx="49377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24597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C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5_make_figures.py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19672" y="277063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Creates PNG charts for report and presentation.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3483864"/>
            <a:ext cx="49377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36301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C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app.py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19672" y="394106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Streamlit frontend for live risk prediction demo.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51560" y="5074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Suggested live walkthrough: config.py → prepare data → train classifier → show saved .joblib model → launch app.py.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Lessons learned and technical difficulties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7772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The strongest learning came from data integration, imbalance, and honest evaluation.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DATA 245 · Traditional ML · Public Transit Reliability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TECHNICAL DIFFICULTIES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86384" y="1655064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57276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GTFS-Realtime matching produced far fewer labeled examples than the full schedule table.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6384" y="218541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1031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Delay classes were imbalanced, so accuracy was not enough.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" y="2660904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57860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Model files must be loaded in the same Python/sklearn environment used to train them.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6384" y="3209544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12724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Weather alignment needs the realtime observation date for defensible weather claims.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6520" y="1170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BEST PRACTICES DISCOVERED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73952" y="1655064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5727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Start with a baseline model before tuning complex models.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73952" y="218541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103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Save intermediate CSVs and summaries to make debugging easier.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73952" y="2660904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5786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Report limitations clearly rather than overclaiming.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73952" y="3136392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0540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Use reproducible scripts and saved models for a quick demo.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4400" y="49834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</a:rPr>
              <a:t>Next step: collect more GTFS-Realtime snapshots over 2–4 weeks, rerun the exact scripts, and update the dashboard metrics.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roles and responsible AI disclosure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7772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CRediT-style contribution statement plus transparent AI use.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DATA 245 · Traditional ML · Public Transit Reliability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143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CREDIT CONTRIBUTION STATEMENT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49808" y="1554480"/>
            <a:ext cx="5257800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916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Naman Vipul Chheda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16352" y="169164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2616B"/>
                </a:solidFill>
              </a:rPr>
              <a:t>Data sourcing, cleaning, EDA, proposal development.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749808" y="2359152"/>
            <a:ext cx="5257800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963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Nikhil Kanaparthi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16352" y="24963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2616B"/>
                </a:solidFill>
              </a:rPr>
              <a:t>Feature engineering, baseline modeling, clustering, frontend integration.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749808" y="3163824"/>
            <a:ext cx="5257800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009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Naeem Mannan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16352" y="330098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2616B"/>
                </a:solidFill>
              </a:rPr>
              <a:t>Advanced modeling, tuning, evaluation, metrics interpretation.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6492240" y="1143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GENERATIVE AI DISCLOSURE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92240" y="1572768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AI assistance was used for brainstorming project framing, slide drafting, debugging guidance, and packaging code. Final code, results, model decisions, and presentation claims must be reviewed and owned by the team.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10528" y="314553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1696" y="306324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7323A"/>
                </a:solidFill>
              </a:rPr>
              <a:t>Do not claim results that are not supported by outputs.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10528" y="3538728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11696" y="345643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7323A"/>
                </a:solidFill>
              </a:rPr>
              <a:t>List all AI tools used in the final report appendix.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10528" y="3931920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1696" y="384962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7323A"/>
                </a:solidFill>
              </a:rPr>
              <a:t>Keep model/data limitations visible in Q&amp;A.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rubric criteria and evidence checklist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7772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Listed in the same order as the assignment. Replace placeholder links before submission.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DATA 245 · Traditional ML · Public Transit Reliability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097280"/>
            <a:ext cx="10652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16586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0B1F33"/>
                </a:solidFill>
              </a:rPr>
              <a:t>Code Walkthrough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3154680" y="1165860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7323A"/>
                </a:solidFill>
              </a:rPr>
              <a:t>Slide 13; scripts 1–6 + app.py submitted.</a:t>
            </a:r>
            <a:endParaRPr lang="en-US" sz="790" dirty="0"/>
          </a:p>
        </p:txBody>
      </p:sp>
      <p:sp>
        <p:nvSpPr>
          <p:cNvPr id="12" name="Shape 10"/>
          <p:cNvSpPr/>
          <p:nvPr/>
        </p:nvSpPr>
        <p:spPr>
          <a:xfrm>
            <a:off x="713232" y="1481328"/>
            <a:ext cx="10652760" cy="310896"/>
          </a:xfrm>
          <a:prstGeom prst="rect">
            <a:avLst/>
          </a:prstGeom>
          <a:solidFill>
            <a:srgbClr val="F4F8FA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54990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0B1F33"/>
                </a:solidFill>
              </a:rPr>
              <a:t>Presentation Skills</a:t>
            </a:r>
            <a:endParaRPr lang="en-US" sz="790" dirty="0"/>
          </a:p>
        </p:txBody>
      </p:sp>
      <p:sp>
        <p:nvSpPr>
          <p:cNvPr id="14" name="Text 12"/>
          <p:cNvSpPr/>
          <p:nvPr/>
        </p:nvSpPr>
        <p:spPr>
          <a:xfrm>
            <a:off x="3154680" y="1549908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7323A"/>
                </a:solidFill>
              </a:rPr>
              <a:t>Timed story: problem → data → models → demo → limitations.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713232" y="1865376"/>
            <a:ext cx="10652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193395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0B1F33"/>
                </a:solidFill>
              </a:rPr>
              <a:t>Discussion / Q&amp;A</a:t>
            </a:r>
            <a:endParaRPr lang="en-US" sz="790" dirty="0"/>
          </a:p>
        </p:txBody>
      </p:sp>
      <p:sp>
        <p:nvSpPr>
          <p:cNvPr id="17" name="Text 15"/>
          <p:cNvSpPr/>
          <p:nvPr/>
        </p:nvSpPr>
        <p:spPr>
          <a:xfrm>
            <a:off x="3154680" y="1933956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7323A"/>
                </a:solidFill>
              </a:rPr>
              <a:t>Backup explanation on imbalance, metrics, weather limitation.</a:t>
            </a:r>
            <a:endParaRPr lang="en-US" sz="790" dirty="0"/>
          </a:p>
        </p:txBody>
      </p:sp>
      <p:sp>
        <p:nvSpPr>
          <p:cNvPr id="18" name="Shape 16"/>
          <p:cNvSpPr/>
          <p:nvPr/>
        </p:nvSpPr>
        <p:spPr>
          <a:xfrm>
            <a:off x="713232" y="2249424"/>
            <a:ext cx="10652760" cy="310896"/>
          </a:xfrm>
          <a:prstGeom prst="rect">
            <a:avLst/>
          </a:prstGeom>
          <a:solidFill>
            <a:srgbClr val="F4F8FA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318004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0B1F33"/>
                </a:solidFill>
              </a:rPr>
              <a:t>Demo</a:t>
            </a:r>
            <a:endParaRPr lang="en-US" sz="790" dirty="0"/>
          </a:p>
        </p:txBody>
      </p:sp>
      <p:sp>
        <p:nvSpPr>
          <p:cNvPr id="20" name="Text 18"/>
          <p:cNvSpPr/>
          <p:nvPr/>
        </p:nvSpPr>
        <p:spPr>
          <a:xfrm>
            <a:off x="3154680" y="2318004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7323A"/>
                </a:solidFill>
              </a:rPr>
              <a:t>Streamlit app.py + saved .joblib models.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713232" y="2633472"/>
            <a:ext cx="10652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70205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0B1F33"/>
                </a:solidFill>
              </a:rPr>
              <a:t>Visualization</a:t>
            </a:r>
            <a:endParaRPr lang="en-US" sz="790" dirty="0"/>
          </a:p>
        </p:txBody>
      </p:sp>
      <p:sp>
        <p:nvSpPr>
          <p:cNvPr id="23" name="Text 21"/>
          <p:cNvSpPr/>
          <p:nvPr/>
        </p:nvSpPr>
        <p:spPr>
          <a:xfrm>
            <a:off x="3154680" y="2702052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7323A"/>
                </a:solidFill>
              </a:rPr>
              <a:t>Slides 5, 8, 9, 11; generated PNG figures.</a:t>
            </a:r>
            <a:endParaRPr lang="en-US" sz="790" dirty="0"/>
          </a:p>
        </p:txBody>
      </p:sp>
      <p:sp>
        <p:nvSpPr>
          <p:cNvPr id="24" name="Shape 22"/>
          <p:cNvSpPr/>
          <p:nvPr/>
        </p:nvSpPr>
        <p:spPr>
          <a:xfrm>
            <a:off x="713232" y="3017520"/>
            <a:ext cx="10652760" cy="310896"/>
          </a:xfrm>
          <a:prstGeom prst="rect">
            <a:avLst/>
          </a:prstGeom>
          <a:solidFill>
            <a:srgbClr val="F4F8FA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08610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0B1F33"/>
                </a:solidFill>
              </a:rPr>
              <a:t>Version Control</a:t>
            </a:r>
            <a:endParaRPr lang="en-US" sz="790" dirty="0"/>
          </a:p>
        </p:txBody>
      </p:sp>
      <p:sp>
        <p:nvSpPr>
          <p:cNvPr id="26" name="Text 24"/>
          <p:cNvSpPr/>
          <p:nvPr/>
        </p:nvSpPr>
        <p:spPr>
          <a:xfrm>
            <a:off x="3154680" y="3086100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7323A"/>
                </a:solidFill>
              </a:rPr>
              <a:t>Add public GitHub URL here before submitting.</a:t>
            </a:r>
            <a:endParaRPr lang="en-US" sz="790" dirty="0"/>
          </a:p>
        </p:txBody>
      </p:sp>
      <p:sp>
        <p:nvSpPr>
          <p:cNvPr id="27" name="Shape 25"/>
          <p:cNvSpPr/>
          <p:nvPr/>
        </p:nvSpPr>
        <p:spPr>
          <a:xfrm>
            <a:off x="713232" y="3401568"/>
            <a:ext cx="10652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47014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0B1F33"/>
                </a:solidFill>
              </a:rPr>
              <a:t>Lessons learned</a:t>
            </a:r>
            <a:endParaRPr lang="en-US" sz="790" dirty="0"/>
          </a:p>
        </p:txBody>
      </p:sp>
      <p:sp>
        <p:nvSpPr>
          <p:cNvPr id="29" name="Text 27"/>
          <p:cNvSpPr/>
          <p:nvPr/>
        </p:nvSpPr>
        <p:spPr>
          <a:xfrm>
            <a:off x="3154680" y="3470148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7323A"/>
                </a:solidFill>
              </a:rPr>
              <a:t>Slide 14.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713232" y="3785616"/>
            <a:ext cx="10652760" cy="310896"/>
          </a:xfrm>
          <a:prstGeom prst="rect">
            <a:avLst/>
          </a:prstGeom>
          <a:solidFill>
            <a:srgbClr val="F4F8FA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85419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0B1F33"/>
                </a:solidFill>
              </a:rPr>
              <a:t>Teamwork</a:t>
            </a:r>
            <a:endParaRPr lang="en-US" sz="790" dirty="0"/>
          </a:p>
        </p:txBody>
      </p:sp>
      <p:sp>
        <p:nvSpPr>
          <p:cNvPr id="32" name="Text 30"/>
          <p:cNvSpPr/>
          <p:nvPr/>
        </p:nvSpPr>
        <p:spPr>
          <a:xfrm>
            <a:off x="3154680" y="3854196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7323A"/>
                </a:solidFill>
              </a:rPr>
              <a:t>Slide 15 CRediT statement.</a:t>
            </a:r>
            <a:endParaRPr lang="en-US" sz="790" dirty="0"/>
          </a:p>
        </p:txBody>
      </p:sp>
      <p:sp>
        <p:nvSpPr>
          <p:cNvPr id="33" name="Shape 31"/>
          <p:cNvSpPr/>
          <p:nvPr/>
        </p:nvSpPr>
        <p:spPr>
          <a:xfrm>
            <a:off x="713232" y="4169664"/>
            <a:ext cx="10652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238244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0B1F33"/>
                </a:solidFill>
              </a:rPr>
              <a:t>Pair programming</a:t>
            </a:r>
            <a:endParaRPr lang="en-US" sz="790" dirty="0"/>
          </a:p>
        </p:txBody>
      </p:sp>
      <p:sp>
        <p:nvSpPr>
          <p:cNvPr id="35" name="Text 33"/>
          <p:cNvSpPr/>
          <p:nvPr/>
        </p:nvSpPr>
        <p:spPr>
          <a:xfrm>
            <a:off x="3154680" y="4238244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7323A"/>
                </a:solidFill>
              </a:rPr>
              <a:t>Add screenshot/notes if practiced; otherwise do not claim.</a:t>
            </a:r>
            <a:endParaRPr lang="en-US" sz="790" dirty="0"/>
          </a:p>
        </p:txBody>
      </p:sp>
      <p:sp>
        <p:nvSpPr>
          <p:cNvPr id="36" name="Shape 34"/>
          <p:cNvSpPr/>
          <p:nvPr/>
        </p:nvSpPr>
        <p:spPr>
          <a:xfrm>
            <a:off x="713232" y="4553712"/>
            <a:ext cx="10652760" cy="310896"/>
          </a:xfrm>
          <a:prstGeom prst="rect">
            <a:avLst/>
          </a:prstGeom>
          <a:solidFill>
            <a:srgbClr val="F4F8FA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462229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0B1F33"/>
                </a:solidFill>
              </a:rPr>
              <a:t>Agile / Scrum</a:t>
            </a:r>
            <a:endParaRPr lang="en-US" sz="790" dirty="0"/>
          </a:p>
        </p:txBody>
      </p:sp>
      <p:sp>
        <p:nvSpPr>
          <p:cNvPr id="38" name="Text 36"/>
          <p:cNvSpPr/>
          <p:nvPr/>
        </p:nvSpPr>
        <p:spPr>
          <a:xfrm>
            <a:off x="3154680" y="4622292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7323A"/>
                </a:solidFill>
              </a:rPr>
              <a:t>Add Trello/sprint backlog/meeting minutes if available.</a:t>
            </a:r>
            <a:endParaRPr lang="en-US" sz="790" dirty="0"/>
          </a:p>
        </p:txBody>
      </p:sp>
      <p:sp>
        <p:nvSpPr>
          <p:cNvPr id="39" name="Shape 37"/>
          <p:cNvSpPr/>
          <p:nvPr/>
        </p:nvSpPr>
        <p:spPr>
          <a:xfrm>
            <a:off x="713232" y="4937760"/>
            <a:ext cx="10652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500634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0B1F33"/>
                </a:solidFill>
              </a:rPr>
              <a:t>Slides</a:t>
            </a:r>
            <a:endParaRPr lang="en-US" sz="790" dirty="0"/>
          </a:p>
        </p:txBody>
      </p:sp>
      <p:sp>
        <p:nvSpPr>
          <p:cNvPr id="41" name="Text 39"/>
          <p:cNvSpPr/>
          <p:nvPr/>
        </p:nvSpPr>
        <p:spPr>
          <a:xfrm>
            <a:off x="3154680" y="5006340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7323A"/>
                </a:solidFill>
              </a:rPr>
              <a:t>This deck.</a:t>
            </a:r>
            <a:endParaRPr lang="en-US" sz="790" dirty="0"/>
          </a:p>
        </p:txBody>
      </p:sp>
      <p:sp>
        <p:nvSpPr>
          <p:cNvPr id="42" name="Shape 40"/>
          <p:cNvSpPr/>
          <p:nvPr/>
        </p:nvSpPr>
        <p:spPr>
          <a:xfrm>
            <a:off x="713232" y="5321808"/>
            <a:ext cx="10652760" cy="310896"/>
          </a:xfrm>
          <a:prstGeom prst="rect">
            <a:avLst/>
          </a:prstGeom>
          <a:solidFill>
            <a:srgbClr val="F4F8FA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539038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0B1F33"/>
                </a:solidFill>
              </a:rPr>
              <a:t>Saved model</a:t>
            </a:r>
            <a:endParaRPr lang="en-US" sz="790" dirty="0"/>
          </a:p>
        </p:txBody>
      </p:sp>
      <p:sp>
        <p:nvSpPr>
          <p:cNvPr id="44" name="Text 42"/>
          <p:cNvSpPr/>
          <p:nvPr/>
        </p:nvSpPr>
        <p:spPr>
          <a:xfrm>
            <a:off x="3154680" y="5390388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7323A"/>
                </a:solidFill>
              </a:rPr>
              <a:t>Classifier 5.7 KB; regressor 6.8 MB — cloud link recommended for regressor.</a:t>
            </a:r>
            <a:endParaRPr lang="en-US" sz="790" dirty="0"/>
          </a:p>
        </p:txBody>
      </p:sp>
      <p:sp>
        <p:nvSpPr>
          <p:cNvPr id="45" name="Shape 43"/>
          <p:cNvSpPr/>
          <p:nvPr/>
        </p:nvSpPr>
        <p:spPr>
          <a:xfrm>
            <a:off x="713232" y="5705856"/>
            <a:ext cx="10652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57744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0B1F33"/>
                </a:solidFill>
              </a:rPr>
              <a:t>Creative presentation</a:t>
            </a:r>
            <a:endParaRPr lang="en-US" sz="790" dirty="0"/>
          </a:p>
        </p:txBody>
      </p:sp>
      <p:sp>
        <p:nvSpPr>
          <p:cNvPr id="47" name="Text 45"/>
          <p:cNvSpPr/>
          <p:nvPr/>
        </p:nvSpPr>
        <p:spPr>
          <a:xfrm>
            <a:off x="3154680" y="5774436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7323A"/>
                </a:solidFill>
              </a:rPr>
              <a:t>Live dashboard demo + visual ML pipeline.</a:t>
            </a:r>
            <a:endParaRPr lang="en-US" sz="790" dirty="0"/>
          </a:p>
        </p:txBody>
      </p:sp>
      <p:sp>
        <p:nvSpPr>
          <p:cNvPr id="48" name="Text 46"/>
          <p:cNvSpPr/>
          <p:nvPr/>
        </p:nvSpPr>
        <p:spPr>
          <a:xfrm>
            <a:off x="868680" y="6199632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Honesty note: Do not claim GitHub, agile/scrum, or pair programming points unless accessible evidence is added.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submission package checklist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7772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Use this slide to avoid missing Canvas requirements.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DATA 245 · Traditional ML · Public Transit Reliability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A6"/>
                </a:solidFill>
              </a:rPr>
              <a:t>17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188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UPLOAD TO CANVAS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86384" y="1709928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6276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Presentation deck: .pptx or exported .pdf.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6384" y="2203704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12140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Code files: .py scripts and app.py; include notebook + converted .py if using notebooks.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" y="277977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6974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Small model file: delay_risk_classifier.joblib can be uploaded directly.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6384" y="328269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20040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Large model file: delay_minutes_regressor.joblib should be shared by accessible cloud link if Canvas size is an issue.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1188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9"/>
                </a:solidFill>
              </a:rPr>
              <a:t>EVIDENCE LINKS TO ADD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37376" y="1709928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8544" y="162763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GitHub repository URL.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37376" y="2203704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38544" y="212140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Trello or sprint backlog link if claiming agile/scrum.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37376" y="2697480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8544" y="261518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Pair programming evidence if claiming it.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37376" y="319125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544" y="31089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7323A"/>
                </a:solidFill>
              </a:rPr>
              <a:t>Model file cloud link if not directly uploaded.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05840" y="495604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Presentation close: “Our prototype identifies delay risk and bottleneck patterns, but the next data collection cycle is needed for stronger production-level performance.”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SJSU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Public Transit Reliability Using Traditional Machine Learning</dc:title>
  <dc:subject>DATA 245 Machine Learning Project</dc:subject>
  <dc:creator>Naman Vipul Chheda, Nikhil Kanaparthi, Naeem Mannan</dc:creator>
  <cp:lastModifiedBy>Naman Vipul Chheda, Nikhil Kanaparthi, Naeem Mannan</cp:lastModifiedBy>
  <cp:revision>1</cp:revision>
  <dcterms:created xsi:type="dcterms:W3CDTF">2026-04-24T04:33:05Z</dcterms:created>
  <dcterms:modified xsi:type="dcterms:W3CDTF">2026-04-24T04:33:05Z</dcterms:modified>
</cp:coreProperties>
</file>